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857375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zraa Akherwaray" initials="AA" lastIdx="1" clrIdx="6">
    <p:extLst>
      <p:ext uri="{19B8F6BF-5375-455C-9EA6-DF929625EA0E}">
        <p15:presenceInfo xmlns:p15="http://schemas.microsoft.com/office/powerpoint/2012/main" userId="S::Azraa.Akherwaray@learningmate.com::c8efb728-d1af-4e0a-8e70-b3c45402a532" providerId="AD"/>
      </p:ext>
    </p:extLst>
  </p:cmAuthor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8" d="100"/>
          <a:sy n="78" d="100"/>
        </p:scale>
        <p:origin x="662" y="7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4427" y="1168401"/>
            <a:ext cx="10964254" cy="2387600"/>
          </a:xfrm>
          <a:noFill/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/>
              <a:t>Part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Point 1</a:t>
            </a:r>
          </a:p>
          <a:p>
            <a:r>
              <a:rPr lang="en-US" sz="2200" dirty="0"/>
              <a:t>Point 2</a:t>
            </a:r>
          </a:p>
          <a:p>
            <a:pPr lvl="1"/>
            <a:r>
              <a:rPr lang="en-US" sz="1800" dirty="0"/>
              <a:t>Sub Point 1</a:t>
            </a:r>
          </a:p>
          <a:p>
            <a:pPr lvl="1"/>
            <a:r>
              <a:rPr lang="en-US" sz="1800" dirty="0"/>
              <a:t>Sub Point 2</a:t>
            </a:r>
          </a:p>
          <a:p>
            <a:pPr lvl="1"/>
            <a:r>
              <a:rPr lang="en-US" sz="1800" dirty="0"/>
              <a:t>Sub Point 3</a:t>
            </a:r>
          </a:p>
          <a:p>
            <a:r>
              <a:rPr lang="en-US" sz="2200" dirty="0"/>
              <a:t>Point 3</a:t>
            </a:r>
          </a:p>
          <a:p>
            <a:r>
              <a:rPr lang="en-US" sz="2200" dirty="0"/>
              <a:t>Point 4</a:t>
            </a:r>
          </a:p>
          <a:p>
            <a:r>
              <a:rPr lang="en-US" sz="2200" dirty="0"/>
              <a:t>Point 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tx1"/>
                </a:solidFill>
                <a:latin typeface="+mn-lt"/>
              </a:rPr>
              <a:t>Point 1</a:t>
            </a:r>
          </a:p>
          <a:p>
            <a:r>
              <a:rPr lang="en-US" sz="2200" dirty="0">
                <a:solidFill>
                  <a:schemeClr val="tx1"/>
                </a:solidFill>
                <a:latin typeface="+mn-lt"/>
              </a:rPr>
              <a:t>Point 2</a:t>
            </a:r>
          </a:p>
          <a:p>
            <a:r>
              <a:rPr lang="en-US" sz="2200" dirty="0">
                <a:solidFill>
                  <a:schemeClr val="tx1"/>
                </a:solidFill>
                <a:latin typeface="+mn-lt"/>
              </a:rPr>
              <a:t>Point 3</a:t>
            </a:r>
          </a:p>
          <a:p>
            <a:r>
              <a:rPr lang="en-US" sz="2200" dirty="0">
                <a:solidFill>
                  <a:schemeClr val="tx1"/>
                </a:solidFill>
                <a:latin typeface="+mn-lt"/>
              </a:rPr>
              <a:t>Point 4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+mn-lt"/>
              </a:rPr>
              <a:t>Sub Point 1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+mn-lt"/>
              </a:rPr>
              <a:t>Sub Point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Point 1</a:t>
            </a:r>
          </a:p>
          <a:p>
            <a:r>
              <a:rPr lang="en-US" sz="2200" dirty="0"/>
              <a:t>Point 2</a:t>
            </a:r>
          </a:p>
          <a:p>
            <a:r>
              <a:rPr lang="en-US" sz="2200" dirty="0"/>
              <a:t>Point 3</a:t>
            </a:r>
          </a:p>
          <a:p>
            <a:r>
              <a:rPr lang="en-US" sz="2200" dirty="0"/>
              <a:t>Point 4</a:t>
            </a:r>
          </a:p>
          <a:p>
            <a:pPr lvl="1"/>
            <a:r>
              <a:rPr lang="en-US" sz="1800" dirty="0"/>
              <a:t>Sub Point 1</a:t>
            </a:r>
          </a:p>
          <a:p>
            <a:pPr lvl="1"/>
            <a:r>
              <a:rPr lang="en-US" sz="1800" dirty="0"/>
              <a:t>Sub Point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current year goes here.&gt;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next year goes here.&gt;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54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PROGRAMMING LANGUAGE TRENDS: </a:t>
            </a:r>
            <a:br>
              <a:rPr lang="en-US" sz="3200" dirty="0"/>
            </a:br>
            <a:r>
              <a:rPr lang="en-US" sz="3200" dirty="0"/>
              <a:t>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databases for the current year goes here.&gt;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databases for the next year goes here.&gt;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24" y="244544"/>
            <a:ext cx="11345743" cy="1325563"/>
          </a:xfrm>
        </p:spPr>
        <p:txBody>
          <a:bodyPr>
            <a:normAutofit/>
          </a:bodyPr>
          <a:lstStyle/>
          <a:p>
            <a:r>
              <a:rPr lang="en-US" sz="3200" dirty="0"/>
              <a:t>DATABASE TRENDS:</a:t>
            </a:r>
            <a:br>
              <a:rPr lang="en-US" sz="3200" dirty="0"/>
            </a:br>
            <a:r>
              <a:rPr lang="en-US" sz="3200" dirty="0"/>
              <a:t>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&lt;Present your dashboard in the following slides.&gt;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1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2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3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Point 1</a:t>
            </a:r>
          </a:p>
          <a:p>
            <a:r>
              <a:rPr lang="en-US" dirty="0"/>
              <a:t>Point 2</a:t>
            </a:r>
          </a:p>
          <a:p>
            <a:r>
              <a:rPr lang="en-US" dirty="0"/>
              <a:t>Point 3</a:t>
            </a:r>
          </a:p>
          <a:p>
            <a:r>
              <a:rPr lang="en-US" dirty="0"/>
              <a:t>Point 4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Include relevant additional charts or tables that you may have created during the analysis phase.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In Module 1, you collected the job posting data using Job API in a file named “</a:t>
            </a:r>
            <a:r>
              <a:rPr lang="en-IN" sz="2400" dirty="0"/>
              <a:t>job-postings.xlsx</a:t>
            </a:r>
            <a:r>
              <a:rPr lang="en-US" sz="2200" dirty="0"/>
              <a:t>”. Present that data using a bar chart here. Order the bar chart according to the number of job postings in descending order.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In Module 1, you collected the job postings data using web scraping in a file named “</a:t>
            </a:r>
            <a:r>
              <a:rPr lang="en-US" sz="2400" dirty="0"/>
              <a:t>popular-languages</a:t>
            </a:r>
            <a:r>
              <a:rPr lang="en-IN" sz="2400" dirty="0"/>
              <a:t>.csv</a:t>
            </a:r>
            <a:r>
              <a:rPr lang="en-US" sz="2200" dirty="0"/>
              <a:t>”. Present that data using a bar chart here. Order the bar chart according to salary in descending order.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82</TotalTime>
  <Words>365</Words>
  <Application>Microsoft Office PowerPoint</Application>
  <PresentationFormat>Widescreen</PresentationFormat>
  <Paragraphs>105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Helv</vt:lpstr>
      <vt:lpstr>IBM Plex Mono</vt:lpstr>
      <vt:lpstr>IBM Plex Mono Text</vt:lpstr>
      <vt:lpstr>IBM Plex Sans</vt:lpstr>
      <vt:lpstr>IBM Plex Sans SemiBold</vt:lpstr>
      <vt:lpstr>SLIDE_TEMPLATE_skill_network</vt:lpstr>
      <vt:lpstr>Title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TRENDS:  FINDINGS &amp; IMPLICATIONS</vt:lpstr>
      <vt:lpstr>DATABASE TRENDS</vt:lpstr>
      <vt:lpstr>DATABASE TRENDS: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Tori Sleeper</dc:creator>
  <cp:lastModifiedBy>Azraa Akherwaray</cp:lastModifiedBy>
  <cp:revision>14</cp:revision>
  <dcterms:created xsi:type="dcterms:W3CDTF">2024-10-30T05:40:03Z</dcterms:created>
  <dcterms:modified xsi:type="dcterms:W3CDTF">2025-09-16T05:42:53Z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