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1857375"/>
  <p:embeddedFontLs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IBM Plex Mono" panose="020B0509050203000203" pitchFamily="49" charset="0"/>
      <p:regular r:id="rId56"/>
      <p:bold r:id="rId57"/>
      <p:italic r:id="rId58"/>
      <p:boldItalic r:id="rId59"/>
    </p:embeddedFont>
    <p:embeddedFont>
      <p:font typeface="IBM Plex Mono SemiBold" panose="020B0709050203000203" pitchFamily="49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4" roundtripDataSignature="AMtx7mjuGRgd/lJ9KXtkLxSc1cqxoWYFo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zraa Akherwaray" initials="AA" lastIdx="3" clrIdx="0">
    <p:extLst>
      <p:ext uri="{19B8F6BF-5375-455C-9EA6-DF929625EA0E}">
        <p15:presenceInfo xmlns:p15="http://schemas.microsoft.com/office/powerpoint/2012/main" userId="S::Azraa.Akherwaray@learningmate.com::c8efb728-d1af-4e0a-8e70-b3c45402a53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71DF08-B7B4-4FA1-AE37-A012E159238F}">
  <a:tblStyle styleId="{3F71DF08-B7B4-4FA1-AE37-A012E15923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2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customschemas.google.com/relationships/presentationmetadata" Target="meta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9" name="Google Shape;12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03" name="Google Shape;20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lank">
  <p:cSld name="1_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ts val="4800"/>
              <a:buFont typeface="IBM Plex Mono SemiBold"/>
              <a:buNone/>
              <a:defRPr sz="4800" b="0" i="0" u="none" strike="noStrike" cap="none">
                <a:solidFill>
                  <a:srgbClr val="005493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2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5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Vertical Title and Text">
  <p:cSld name="1_Vertical Title and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55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5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6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57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58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59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8" name="Google Shape;58;p6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6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60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Google Shape;65;p6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6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61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6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62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6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63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/>
        </p:nvSpPr>
        <p:spPr>
          <a:xfrm>
            <a:off x="888546" y="4568734"/>
            <a:ext cx="976894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&lt;FIRST NAME; LAST NAME&gt;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&lt;DATE&gt;</a:t>
            </a:r>
            <a:endParaRPr dirty="0"/>
          </a:p>
        </p:txBody>
      </p:sp>
      <p:pic>
        <p:nvPicPr>
          <p:cNvPr id="87" name="Google Shape;87;p1" descr="IBM Skills Network Logo - Horizontal-noai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820" y="676828"/>
            <a:ext cx="2104103" cy="629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20948" y="1415323"/>
            <a:ext cx="11697247" cy="421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Instructions and guidelines (read carefully)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Instructions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Insert your name as it appears on your Online Campus learner profile in the file name. 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file as: 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Name Last Name M10U4 Capstone Project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e.g., Lilly Smith M10U4 Capstone Project</a:t>
            </a:r>
            <a:r>
              <a:rPr lang="en-US" sz="1600" b="1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Write all your answers and upload your screenshots in this PowerPoint presentation in the slides provided.</a:t>
            </a:r>
            <a:endParaRPr dirty="0"/>
          </a:p>
          <a:p>
            <a:pPr marL="0" marR="0" lvl="0" indent="-101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Convert your final presentation into </a:t>
            </a: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.pdf 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format and submit this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PDF document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No other file types will be accepted. 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Please ensure that you have checked your course calendar for the due date for this assignment.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Guidelines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do not have a desktop version, follow the instructions from the previous lab to access PowerPoint online.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Complete the slides with relevant details (you are free to add additional slides, charts, and tables).</a:t>
            </a:r>
            <a:endParaRPr dirty="0"/>
          </a:p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Add any additional unused charts or tables to the appendix that you think are relevant to your analysis.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p3"/>
          <p:cNvGraphicFramePr/>
          <p:nvPr>
            <p:extLst>
              <p:ext uri="{D42A27DB-BD31-4B8C-83A1-F6EECF244321}">
                <p14:modId xmlns:p14="http://schemas.microsoft.com/office/powerpoint/2010/main" val="1646767744"/>
              </p:ext>
            </p:extLst>
          </p:nvPr>
        </p:nvGraphicFramePr>
        <p:xfrm>
          <a:off x="1837990" y="1021904"/>
          <a:ext cx="8516025" cy="4814165"/>
        </p:xfrm>
        <a:graphic>
          <a:graphicData uri="http://schemas.openxmlformats.org/drawingml/2006/table">
            <a:tbl>
              <a:tblPr>
                <a:noFill/>
                <a:tableStyleId>{3F71DF08-B7B4-4FA1-AE37-A012E159238F}</a:tableStyleId>
              </a:tblPr>
              <a:tblGrid>
                <a:gridCol w="85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Plagiarism declaration</a:t>
                      </a:r>
                      <a:endParaRPr sz="3500" u="none" strike="noStrike" cap="none"/>
                    </a:p>
                  </a:txBody>
                  <a:tcPr marL="124275" marR="124275" marT="124275" marB="12427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5575">
                <a:tc>
                  <a:txBody>
                    <a:bodyPr/>
                    <a:lstStyle/>
                    <a:p>
                      <a:pPr marL="457200" marR="0" lvl="0" indent="-457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understand that plagiarism is to use another’s work and pretend that it is one’s own.</a:t>
                      </a:r>
                      <a:endParaRPr sz="3500" u="none" strike="noStrike" cap="none" dirty="0"/>
                    </a:p>
                    <a:p>
                      <a:pPr marL="457200" marR="0" lvl="0" indent="-457200" algn="l" rtl="0">
                        <a:spcBef>
                          <a:spcPts val="20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have not allowed, and will not allow, anyone to copy my work with the intention of submitting it as their own.</a:t>
                      </a:r>
                      <a:endParaRPr sz="3500" u="none" strike="noStrike" cap="none" dirty="0"/>
                    </a:p>
                    <a:p>
                      <a:pPr marL="457200" marR="0" lvl="0" indent="-457200" algn="l" rtl="0">
                        <a:spcBef>
                          <a:spcPts val="200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1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 acknowledge that copying someone else’s assignment (or part of it) is wrong and declare that my assignments are my own work.</a:t>
                      </a:r>
                      <a:endParaRPr sz="3500" u="none" strike="noStrike" cap="none" dirty="0"/>
                    </a:p>
                    <a:p>
                      <a:pPr marL="0" marR="0" lvl="0" indent="0" algn="l" rtl="0">
                        <a:spcBef>
                          <a:spcPts val="2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Plagiarism cases will be investigated in line with the Terms and Conditions for </a:t>
                      </a:r>
                      <a:r>
                        <a:rPr lang="en-US" sz="2100" b="1" dirty="0"/>
                        <a:t>learner</a:t>
                      </a:r>
                      <a:r>
                        <a:rPr lang="en-US" sz="21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s.</a:t>
                      </a:r>
                      <a:endParaRPr sz="3500" u="none" strike="noStrike" cap="none" dirty="0"/>
                    </a:p>
                  </a:txBody>
                  <a:tcPr marL="124275" marR="124275" marT="124275" marB="12427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928914" y="2113240"/>
            <a:ext cx="5167086" cy="3320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dirty="0"/>
          </a:p>
        </p:txBody>
      </p:sp>
      <p:sp>
        <p:nvSpPr>
          <p:cNvPr id="105" name="Google Shape;105;p4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958903" y="2684972"/>
            <a:ext cx="4017889" cy="103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Summary of methodologies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Summary of all results</a:t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4000" dirty="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828068" y="538650"/>
            <a:ext cx="10530114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958697" y="2521403"/>
            <a:ext cx="5660840" cy="1898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Project background and context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Problems you want to solve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sldNum" idx="12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88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dirty="0"/>
          </a:p>
          <a:p>
            <a:pPr marL="228600" marR="0" lvl="0" indent="-2286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-US" sz="8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Data collection methodology</a:t>
            </a:r>
            <a:endParaRPr dirty="0"/>
          </a:p>
          <a:p>
            <a:pPr marL="685800" marR="0" lvl="1" indent="-2286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757070"/>
              </a:buClr>
              <a:buSzPct val="100000"/>
              <a:buFont typeface="Arial"/>
              <a:buChar char="•"/>
            </a:pPr>
            <a:r>
              <a:rPr lang="en-US" sz="7600" b="0" i="0" u="none" strike="noStrike" cap="none" dirty="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Describe how the data was collected. </a:t>
            </a:r>
            <a:endParaRPr dirty="0"/>
          </a:p>
          <a:p>
            <a:pPr marL="228600" marR="0" lvl="0" indent="-2286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-US" sz="8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data wrangling.</a:t>
            </a:r>
            <a:endParaRPr dirty="0"/>
          </a:p>
          <a:p>
            <a:pPr marL="685800" marR="0" lvl="1" indent="-2286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757070"/>
              </a:buClr>
              <a:buSzPct val="100000"/>
              <a:buFont typeface="Arial"/>
              <a:buChar char="•"/>
            </a:pPr>
            <a:r>
              <a:rPr lang="en-US" sz="7600" b="0" i="0" u="none" strike="noStrike" cap="none" dirty="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Describe how the data was processed.</a:t>
            </a:r>
            <a:endParaRPr dirty="0"/>
          </a:p>
          <a:p>
            <a:pPr marL="228600" marR="0" lvl="0" indent="-2286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-US" sz="8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exploratory data analysis (EDA) using visualization and SQL.</a:t>
            </a:r>
            <a:endParaRPr dirty="0"/>
          </a:p>
          <a:p>
            <a:pPr marL="228600" marR="0" lvl="0" indent="-2286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-US" sz="8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interactive visual analytics using Folium and </a:t>
            </a:r>
            <a:r>
              <a:rPr lang="en-US" sz="88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Plotly</a:t>
            </a:r>
            <a:r>
              <a:rPr lang="en-US" sz="8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 Dash.</a:t>
            </a:r>
            <a:endParaRPr dirty="0"/>
          </a:p>
          <a:p>
            <a:pPr marL="228600" marR="0" lvl="0" indent="-2286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ct val="100000"/>
              <a:buFont typeface="Arial"/>
              <a:buChar char="•"/>
            </a:pPr>
            <a:r>
              <a:rPr lang="en-US" sz="88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Perform predictive analysis using classification models.</a:t>
            </a:r>
            <a:endParaRPr dirty="0"/>
          </a:p>
          <a:p>
            <a:pPr marL="685800" marR="0" lvl="1" indent="-2286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757070"/>
              </a:buClr>
              <a:buSzPct val="100000"/>
              <a:buFont typeface="Arial"/>
              <a:buChar char="•"/>
            </a:pPr>
            <a:r>
              <a:rPr lang="en-US" sz="7600" b="0" i="0" u="none" strike="noStrike" cap="none" dirty="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How to build, tune, and evaluate classification models</a:t>
            </a:r>
            <a:endParaRPr dirty="0"/>
          </a:p>
          <a:p>
            <a:pPr marL="228600" marR="0" lvl="0" indent="-88900" algn="l" rtl="0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endParaRPr sz="88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193675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193675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193675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193675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9" name="Google Shape;139;p9"/>
          <p:cNvSpPr txBox="1">
            <a:spLocks noGrp="1"/>
          </p:cNvSpPr>
          <p:nvPr>
            <p:ph type="body" idx="1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Describe how datasets were collected. 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data collection process using key phrases and flowcharts.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 sz="4000" dirty="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46" name="Google Shape;146;p10"/>
          <p:cNvSpPr txBox="1">
            <a:spLocks noGrp="1"/>
          </p:cNvSpPr>
          <p:nvPr>
            <p:ph type="body" idx="1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noFill/>
          <a:ln w="9525" cap="flat" cmpd="sng">
            <a:solidFill>
              <a:srgbClr val="0B49CB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1C7D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1C7D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1C7D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1C7D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7DDB"/>
              </a:buClr>
              <a:buSzPts val="22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rPr>
              <a:t>Place your flowchart of SpaceX API calls here.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 txBox="1">
            <a:spLocks noGrp="1"/>
          </p:cNvSpPr>
          <p:nvPr>
            <p:ph type="body" idx="2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data collection with SpaceX REST calls using key phrases and flowcharts.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b="0" i="0" u="none" strike="noStrike" cap="none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Add the GitHub URL of the completed SpaceX API calls notebook </a:t>
            </a:r>
            <a:r>
              <a:rPr lang="en-US" sz="2200" b="0" i="0" u="none" strike="noStrike" cap="none" dirty="0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rPr>
              <a:t>(include completed code cell and outcome cell) </a:t>
            </a:r>
            <a:r>
              <a:rPr lang="en-US" sz="2200" b="0" i="0" u="none" strike="noStrike" cap="none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as an external reference.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collection – SpaceX API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54" name="Google Shape;154;p11"/>
          <p:cNvSpPr txBox="1">
            <a:spLocks noGrp="1"/>
          </p:cNvSpPr>
          <p:nvPr>
            <p:ph type="body" idx="1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web scraping process using key phrases and flowcharts.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Add the GitHub URL of the completed web scraping notebook as an external reference.</a:t>
            </a:r>
            <a:endParaRPr dirty="0"/>
          </a:p>
        </p:txBody>
      </p:sp>
      <p:sp>
        <p:nvSpPr>
          <p:cNvPr id="155" name="Google Shape;155;p11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493"/>
              </a:buClr>
              <a:buSzPct val="100000"/>
              <a:buFont typeface="IBM Plex Mono SemiBold"/>
              <a:buNone/>
            </a:pPr>
            <a:endParaRPr sz="4000">
              <a:solidFill>
                <a:srgbClr val="1C7DD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922411" y="6910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collection – Scraping</a:t>
            </a:r>
            <a:endParaRPr sz="4000" dirty="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noFill/>
          <a:ln w="9525" cap="flat" cmpd="sng">
            <a:solidFill>
              <a:srgbClr val="0B49CB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1C7D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1C7D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1C7D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1C7DD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C7DDB"/>
              </a:buClr>
              <a:buSzPts val="2200"/>
              <a:buFont typeface="Arial"/>
              <a:buNone/>
            </a:pPr>
            <a:r>
              <a:rPr lang="en-US" sz="2200" dirty="0">
                <a:solidFill>
                  <a:srgbClr val="1C7DDB"/>
                </a:solidFill>
                <a:latin typeface="Arial"/>
                <a:ea typeface="Arial"/>
                <a:cs typeface="Arial"/>
                <a:sym typeface="Arial"/>
              </a:rPr>
              <a:t>Place your flowchart of web scraping here.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63" name="Google Shape;163;p12"/>
          <p:cNvSpPr txBox="1">
            <a:spLocks noGrp="1"/>
          </p:cNvSpPr>
          <p:nvPr>
            <p:ph type="body" idx="1"/>
          </p:nvPr>
        </p:nvSpPr>
        <p:spPr>
          <a:xfrm>
            <a:off x="770011" y="1825625"/>
            <a:ext cx="897565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Describe how the data was processed.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data wrangling process using key phrases and flowcharts.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Add the GitHub URL of your completed data wrangling notebooks as an external reference.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Data wrangling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Summarize the charts plotted and why you used those charts.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Add the GitHub URL of your completed EDA with data visualization notebook as an external reference.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EDA with data visualization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77" name="Google Shape;177;p14"/>
          <p:cNvSpPr txBox="1">
            <a:spLocks noGrp="1"/>
          </p:cNvSpPr>
          <p:nvPr>
            <p:ph type="body" idx="1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Using bullet point format, summarize the SQL queries you performed.</a:t>
            </a: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Add the GitHub URL of your completed EDA with SQL notebook as an external reference.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EDA with SQL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84" name="Google Shape;184;p15"/>
          <p:cNvSpPr txBox="1">
            <a:spLocks noGrp="1"/>
          </p:cNvSpPr>
          <p:nvPr>
            <p:ph type="body" idx="1"/>
          </p:nvPr>
        </p:nvSpPr>
        <p:spPr>
          <a:xfrm>
            <a:off x="838200" y="18750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Summarize the map objects (markers, circles, lines, etc.) you created and added to a </a:t>
            </a:r>
            <a:r>
              <a:rPr lang="en-US" sz="2200" dirty="0">
                <a:solidFill>
                  <a:srgbClr val="292929"/>
                </a:solidFill>
              </a:rPr>
              <a:t>F</a:t>
            </a: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olium map.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Explain why you added those objects.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Add the GitHub URL of your completed interactive map with Folium as an external reference.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Build an interactive map with Folium</a:t>
            </a:r>
            <a:endParaRPr sz="4000" dirty="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91" name="Google Shape;191;p16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Summarize </a:t>
            </a:r>
            <a:r>
              <a:rPr lang="en-US" sz="2200" dirty="0">
                <a:solidFill>
                  <a:srgbClr val="292929"/>
                </a:solidFill>
              </a:rPr>
              <a:t>the</a:t>
            </a: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plots and interactions you added to a dashboard.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Explain why you added those plots and interactions.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Add the GitHub URL of your completed </a:t>
            </a:r>
            <a:r>
              <a:rPr lang="en-US" sz="2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Plotly</a:t>
            </a: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Dash lab as an external reference.</a:t>
            </a:r>
            <a:endParaRPr dirty="0"/>
          </a:p>
        </p:txBody>
      </p:sp>
      <p:sp>
        <p:nvSpPr>
          <p:cNvPr id="192" name="Google Shape;192;p16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Build a dashboard with </a:t>
            </a:r>
            <a:r>
              <a:rPr lang="en-US" sz="4000" dirty="0" err="1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Plotly</a:t>
            </a: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 Dash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Summarize how you built, evaluated, improved, and found the best-performing classification model.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model development process using key phrases and flowcharts.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Add the GitHub URL of your completed predictive analysis lab as an external reference.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Predictive analysis (classification)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/>
          <p:nvPr/>
        </p:nvSpPr>
        <p:spPr>
          <a:xfrm>
            <a:off x="841125" y="1807337"/>
            <a:ext cx="7068725" cy="162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Exploratory data analysis results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Interactive analytics demo in screenshots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Predictive analysis results</a:t>
            </a:r>
            <a:endParaRPr/>
          </a:p>
          <a:p>
            <a:pPr marL="685800" marR="0" lvl="1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70C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06" name="Google Shape;206;p18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18" name="Google Shape;218;p20"/>
          <p:cNvSpPr txBox="1">
            <a:spLocks noGrp="1"/>
          </p:cNvSpPr>
          <p:nvPr>
            <p:ph type="body" idx="1"/>
          </p:nvPr>
        </p:nvSpPr>
        <p:spPr>
          <a:xfrm>
            <a:off x="864972" y="2057400"/>
            <a:ext cx="457429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a scatter plot of flight </a:t>
            </a:r>
            <a:r>
              <a:rPr lang="en-US" sz="2200" dirty="0">
                <a:solidFill>
                  <a:srgbClr val="292929"/>
                </a:solidFill>
              </a:rPr>
              <a:t>n</a:t>
            </a: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umber vs. launch </a:t>
            </a:r>
            <a:r>
              <a:rPr lang="en-US" sz="2200" dirty="0">
                <a:solidFill>
                  <a:srgbClr val="292929"/>
                </a:solidFill>
              </a:rPr>
              <a:t>s</a:t>
            </a: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ite.</a:t>
            </a: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the screenshot of the scatter plot with explanations.</a:t>
            </a:r>
            <a:endParaRPr dirty="0"/>
          </a:p>
        </p:txBody>
      </p:sp>
      <p:sp>
        <p:nvSpPr>
          <p:cNvPr id="219" name="Google Shape;219;p20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Flight number vs. launch </a:t>
            </a:r>
            <a:r>
              <a:rPr lang="en-US" sz="4000" dirty="0">
                <a:solidFill>
                  <a:srgbClr val="0B49CB"/>
                </a:solidFill>
              </a:rPr>
              <a:t>s</a:t>
            </a: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ite</a:t>
            </a:r>
            <a:endParaRPr sz="4000" dirty="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body" idx="1"/>
          </p:nvPr>
        </p:nvSpPr>
        <p:spPr>
          <a:xfrm>
            <a:off x="770010" y="2069757"/>
            <a:ext cx="412583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a scatter plot of payload vs. </a:t>
            </a:r>
            <a:r>
              <a:rPr lang="en-US" sz="2200" dirty="0">
                <a:solidFill>
                  <a:srgbClr val="292929"/>
                </a:solidFill>
              </a:rPr>
              <a:t>l</a:t>
            </a: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aunch site.</a:t>
            </a: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the screenshot of the scatter plot with explanations.</a:t>
            </a:r>
            <a:endParaRPr dirty="0"/>
          </a:p>
        </p:txBody>
      </p:sp>
      <p:sp>
        <p:nvSpPr>
          <p:cNvPr id="226" name="Google Shape;226;p21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Payload vs. launch </a:t>
            </a:r>
            <a:r>
              <a:rPr lang="en-US" sz="4000" dirty="0">
                <a:solidFill>
                  <a:srgbClr val="0B49CB"/>
                </a:solidFill>
              </a:rPr>
              <a:t>s</a:t>
            </a: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ite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32" name="Google Shape;232;p22"/>
          <p:cNvSpPr txBox="1">
            <a:spLocks noGrp="1"/>
          </p:cNvSpPr>
          <p:nvPr>
            <p:ph type="body" idx="1"/>
          </p:nvPr>
        </p:nvSpPr>
        <p:spPr>
          <a:xfrm>
            <a:off x="770011" y="2082114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a bar chart for the success rate of each orbit type.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the screenshot of the scatter plot with explanations.</a:t>
            </a:r>
            <a:endParaRPr dirty="0"/>
          </a:p>
        </p:txBody>
      </p:sp>
      <p:sp>
        <p:nvSpPr>
          <p:cNvPr id="233" name="Google Shape;233;p22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Success rate vs. orbit </a:t>
            </a:r>
            <a:r>
              <a:rPr lang="en-US" sz="4000" dirty="0">
                <a:solidFill>
                  <a:srgbClr val="0B49CB"/>
                </a:solidFill>
              </a:rPr>
              <a:t>t</a:t>
            </a: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ype</a:t>
            </a:r>
            <a:endParaRPr sz="4000" dirty="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39" name="Google Shape;239;p23"/>
          <p:cNvSpPr txBox="1">
            <a:spLocks noGrp="1"/>
          </p:cNvSpPr>
          <p:nvPr>
            <p:ph type="body" idx="1"/>
          </p:nvPr>
        </p:nvSpPr>
        <p:spPr>
          <a:xfrm>
            <a:off x="770011" y="2069756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a scatter plot of flight number vs. orbit type.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the screenshot of the scatter plot with explanations.</a:t>
            </a:r>
            <a:endParaRPr dirty="0"/>
          </a:p>
        </p:txBody>
      </p:sp>
      <p:sp>
        <p:nvSpPr>
          <p:cNvPr id="240" name="Google Shape;240;p23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Flight number vs. orbit </a:t>
            </a:r>
            <a:r>
              <a:rPr lang="en-US" sz="4000" dirty="0">
                <a:solidFill>
                  <a:srgbClr val="0B49CB"/>
                </a:solidFill>
              </a:rPr>
              <a:t>t</a:t>
            </a: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ype</a:t>
            </a:r>
            <a:endParaRPr sz="4000" dirty="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46" name="Google Shape;246;p24"/>
          <p:cNvSpPr txBox="1">
            <a:spLocks noGrp="1"/>
          </p:cNvSpPr>
          <p:nvPr>
            <p:ph type="body" idx="1"/>
          </p:nvPr>
        </p:nvSpPr>
        <p:spPr>
          <a:xfrm>
            <a:off x="770011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a scatter plot of payload vs. orbit type.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the screenshot of the scatter plot with explanations.</a:t>
            </a:r>
            <a:endParaRPr dirty="0"/>
          </a:p>
        </p:txBody>
      </p:sp>
      <p:sp>
        <p:nvSpPr>
          <p:cNvPr id="247" name="Google Shape;247;p24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Payload vs. orbit </a:t>
            </a:r>
            <a:r>
              <a:rPr lang="en-US" sz="4000" dirty="0">
                <a:solidFill>
                  <a:srgbClr val="0B49CB"/>
                </a:solidFill>
              </a:rPr>
              <a:t>t</a:t>
            </a: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ype</a:t>
            </a:r>
            <a:endParaRPr sz="4000" dirty="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53" name="Google Shape;253;p25"/>
          <p:cNvSpPr txBox="1">
            <a:spLocks noGrp="1"/>
          </p:cNvSpPr>
          <p:nvPr>
            <p:ph type="body" idx="1"/>
          </p:nvPr>
        </p:nvSpPr>
        <p:spPr>
          <a:xfrm>
            <a:off x="770011" y="2069757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a line chart of the yearly average success rate.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the screenshot of the line chart with explanations.</a:t>
            </a:r>
            <a:endParaRPr dirty="0"/>
          </a:p>
        </p:txBody>
      </p:sp>
      <p:sp>
        <p:nvSpPr>
          <p:cNvPr id="254" name="Google Shape;254;p25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Launch </a:t>
            </a:r>
            <a:r>
              <a:rPr lang="en-US" sz="4000" dirty="0">
                <a:solidFill>
                  <a:srgbClr val="0B49CB"/>
                </a:solidFill>
              </a:rPr>
              <a:t>s</a:t>
            </a: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uccess yearly trend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60" name="Google Shape;260;p26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Find the names of the unique launch sites.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here.</a:t>
            </a:r>
            <a:endParaRPr dirty="0"/>
          </a:p>
        </p:txBody>
      </p:sp>
      <p:sp>
        <p:nvSpPr>
          <p:cNvPr id="261" name="Google Shape;261;p26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All </a:t>
            </a:r>
            <a:r>
              <a:rPr lang="en-US" sz="4000" dirty="0">
                <a:solidFill>
                  <a:srgbClr val="0B49CB"/>
                </a:solidFill>
              </a:rPr>
              <a:t>l</a:t>
            </a: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aunch site names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67" name="Google Shape;267;p27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Find 5 records where launch sites’ names start with “KSC</a:t>
            </a:r>
            <a:r>
              <a:rPr lang="en-US" sz="2200" dirty="0">
                <a:solidFill>
                  <a:srgbClr val="292929"/>
                </a:solidFill>
              </a:rPr>
              <a:t>”.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here.</a:t>
            </a:r>
            <a:endParaRPr dirty="0"/>
          </a:p>
        </p:txBody>
      </p:sp>
      <p:sp>
        <p:nvSpPr>
          <p:cNvPr id="268" name="Google Shape;268;p27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Launch site names begin with </a:t>
            </a:r>
            <a:r>
              <a:rPr lang="en-US" sz="4000" dirty="0">
                <a:solidFill>
                  <a:srgbClr val="0B49CB"/>
                </a:solidFill>
              </a:rPr>
              <a:t>“</a:t>
            </a: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KSC</a:t>
            </a:r>
            <a:r>
              <a:rPr lang="en-US" sz="4000" dirty="0">
                <a:solidFill>
                  <a:srgbClr val="0B49CB"/>
                </a:solidFill>
              </a:rPr>
              <a:t>”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74" name="Google Shape;274;p28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Calculate the total payload carried by boosters from NASA.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here.</a:t>
            </a:r>
            <a:endParaRPr dirty="0"/>
          </a:p>
        </p:txBody>
      </p:sp>
      <p:sp>
        <p:nvSpPr>
          <p:cNvPr id="275" name="Google Shape;275;p28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Total payload </a:t>
            </a:r>
            <a:r>
              <a:rPr lang="en-US" sz="4000" dirty="0">
                <a:solidFill>
                  <a:srgbClr val="0B49CB"/>
                </a:solidFill>
              </a:rPr>
              <a:t>m</a:t>
            </a: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ass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81" name="Google Shape;281;p29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Calculate the average payload mass carried by booster version F9 v1.1.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here.</a:t>
            </a:r>
            <a:endParaRPr dirty="0"/>
          </a:p>
        </p:txBody>
      </p:sp>
      <p:sp>
        <p:nvSpPr>
          <p:cNvPr id="282" name="Google Shape;282;p29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Average payload mass by F9 v1.1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288" name="Google Shape;288;p30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Find the dates of the first successful landing outcome on the drone ship.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here.</a:t>
            </a:r>
            <a:endParaRPr dirty="0"/>
          </a:p>
        </p:txBody>
      </p:sp>
      <p:sp>
        <p:nvSpPr>
          <p:cNvPr id="289" name="Google Shape;289;p30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First successful ground landing date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295" name="Google Shape;295;p31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List the names of boosters that have successfully landed on a drone ship and had a payload mass greater than 4,000 but less than 6,000.</a:t>
            </a: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here.</a:t>
            </a:r>
            <a:endParaRPr dirty="0"/>
          </a:p>
        </p:txBody>
      </p:sp>
      <p:sp>
        <p:nvSpPr>
          <p:cNvPr id="296" name="Google Shape;296;p31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62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Successful drone ship landing with payload between 4,000 and 6,000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302" name="Google Shape;302;p32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Calculate the total number of successful and failed mission outcomes.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here.</a:t>
            </a:r>
            <a:endParaRPr dirty="0"/>
          </a:p>
        </p:txBody>
      </p:sp>
      <p:sp>
        <p:nvSpPr>
          <p:cNvPr id="303" name="Google Shape;303;p32"/>
          <p:cNvSpPr txBox="1"/>
          <p:nvPr/>
        </p:nvSpPr>
        <p:spPr>
          <a:xfrm>
            <a:off x="770011" y="292232"/>
            <a:ext cx="10890946" cy="79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Total number of successful and failed mission outcomes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309" name="Google Shape;309;p33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List the names of the boosters that have carried the maximum payload mass.</a:t>
            </a:r>
            <a:endParaRPr dirty="0"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here.</a:t>
            </a:r>
            <a:endParaRPr dirty="0"/>
          </a:p>
        </p:txBody>
      </p:sp>
      <p:sp>
        <p:nvSpPr>
          <p:cNvPr id="310" name="Google Shape;310;p33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Boosters carried maximum payload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316" name="Google Shape;316;p34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List the records that will display the month names, successful </a:t>
            </a:r>
            <a:r>
              <a:rPr lang="en-US" sz="2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landing_outcomes</a:t>
            </a: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in ground pad, booster versions, and </a:t>
            </a:r>
            <a:r>
              <a:rPr lang="en-US" sz="2200" dirty="0" err="1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launch_site</a:t>
            </a: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 for the months in the year 2017.</a:t>
            </a: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here.</a:t>
            </a:r>
            <a:endParaRPr sz="28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4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2015 launch </a:t>
            </a:r>
            <a:r>
              <a:rPr lang="en-US" sz="4000" dirty="0">
                <a:solidFill>
                  <a:srgbClr val="0B49CB"/>
                </a:solidFill>
              </a:rPr>
              <a:t>r</a:t>
            </a: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ecords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323" name="Google Shape;323;p35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Rank the count of landing outcomes (such as Failure (drone ship) or Success (ground pad)) between 2010-06-04 and 2017-03-20 in descending order.</a:t>
            </a: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Present your query result with a short explanation here.</a:t>
            </a:r>
            <a:endParaRPr dirty="0"/>
          </a:p>
        </p:txBody>
      </p:sp>
      <p:sp>
        <p:nvSpPr>
          <p:cNvPr id="324" name="Google Shape;324;p35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Rank landing outcomes between 2010-06-04 and 2017-03-20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335" name="Google Shape;335;p37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Replace &lt;Folium map screenshot 1&gt; with an appropriate title.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Explore the generated Folium map and make a proper screenshot to include all launch sites’ location markers on a global map.</a:t>
            </a:r>
            <a:endParaRPr sz="2800" dirty="0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Explain the important elements and findings on the screenshot.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7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&lt;Folium map screenshot 1&gt;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8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342" name="Google Shape;342;p38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Replace &lt;Folium map screenshot 2&gt; with an appropriate title.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Explore the Folium map and make a proper screenshot to show the color-labeled launch outcomes on the map.</a:t>
            </a:r>
            <a:endParaRPr sz="28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Explain the important elements and findings on the screenshot.</a:t>
            </a:r>
            <a:endParaRPr sz="28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rgbClr val="2929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8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&lt;Folium map screenshot 2&gt;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9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349" name="Google Shape;349;p39"/>
          <p:cNvSpPr txBox="1">
            <a:spLocks noGrp="1"/>
          </p:cNvSpPr>
          <p:nvPr>
            <p:ph type="body" idx="1"/>
          </p:nvPr>
        </p:nvSpPr>
        <p:spPr>
          <a:xfrm>
            <a:off x="770010" y="1690688"/>
            <a:ext cx="10687962" cy="431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Replace &lt;Folium map screenshot 3&gt; with an appropriate title.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Explore the generated Folium map and show the screenshot of a selected launch site to its proximities, such as railway, highway, and coastline, with distance calculated and displayed.</a:t>
            </a:r>
            <a:endParaRPr sz="28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Explain the important elements and findings on the screenshot.</a:t>
            </a:r>
            <a:endParaRPr sz="28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9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&lt;Folium map screenshot 3&gt;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1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361" name="Google Shape;361;p41"/>
          <p:cNvSpPr txBox="1">
            <a:spLocks noGrp="1"/>
          </p:cNvSpPr>
          <p:nvPr>
            <p:ph type="body" idx="1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Replace &lt;Dashboard screenshot 1&gt; with an appropriate title.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the screenshot of the launch success count for all sites in a pie chart.</a:t>
            </a: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Explain the important elements and findings on the screenshot.</a:t>
            </a:r>
            <a:endParaRPr sz="28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1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&lt;Dashboard screenshot 1&gt;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2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368" name="Google Shape;368;p42"/>
          <p:cNvSpPr txBox="1">
            <a:spLocks noGrp="1"/>
          </p:cNvSpPr>
          <p:nvPr>
            <p:ph type="body" idx="1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Replace &lt;Dashboard screenshot 2&gt; with an appropriate title.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the screenshot of the pie chart for the launch site with the highest launch success ratio.</a:t>
            </a:r>
            <a:endParaRPr sz="28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Explain the important elements and findings on the screenshot.</a:t>
            </a:r>
            <a:endParaRPr sz="28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2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&lt;Dashboard screenshot 2&gt;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375" name="Google Shape;375;p43"/>
          <p:cNvSpPr txBox="1">
            <a:spLocks noGrp="1"/>
          </p:cNvSpPr>
          <p:nvPr>
            <p:ph type="body" idx="1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Replace &lt;Dashboard screenshot 3&gt; with an appropriate title.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screenshots of the payload vs. launch outcome scatter plot for all sites, with different payloads selected in the range slider.</a:t>
            </a:r>
            <a:endParaRPr dirty="0"/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Explain the important elements and findings on the screenshot, such as which payload range or booster version has the largest success rate.</a:t>
            </a: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3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&lt;Dashboard screenshot 3&gt;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4"/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5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387" name="Google Shape;387;p45"/>
          <p:cNvSpPr txBox="1">
            <a:spLocks noGrp="1"/>
          </p:cNvSpPr>
          <p:nvPr>
            <p:ph type="body" idx="1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Visualize the built model accuracy for all built classification models in a bar chart.</a:t>
            </a: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88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dirty="0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Find the model with the highest classification accuracy.</a:t>
            </a:r>
            <a:endParaRPr dirty="0"/>
          </a:p>
        </p:txBody>
      </p:sp>
      <p:sp>
        <p:nvSpPr>
          <p:cNvPr id="388" name="Google Shape;388;p45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Classification accuracy</a:t>
            </a:r>
            <a:endParaRPr sz="4000" dirty="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394" name="Google Shape;394;p46"/>
          <p:cNvSpPr txBox="1">
            <a:spLocks noGrp="1"/>
          </p:cNvSpPr>
          <p:nvPr>
            <p:ph type="body" idx="1"/>
          </p:nvPr>
        </p:nvSpPr>
        <p:spPr>
          <a:xfrm>
            <a:off x="770011" y="2057400"/>
            <a:ext cx="947796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Show the confusion matrix of the best-performing model with an explanation.</a:t>
            </a:r>
            <a:endParaRPr dirty="0"/>
          </a:p>
        </p:txBody>
      </p:sp>
      <p:sp>
        <p:nvSpPr>
          <p:cNvPr id="395" name="Google Shape;395;p46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 dirty="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sz="4000" dirty="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7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401" name="Google Shape;401;p47"/>
          <p:cNvSpPr txBox="1">
            <a:spLocks noGrp="1"/>
          </p:cNvSpPr>
          <p:nvPr>
            <p:ph type="body" idx="1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Point 1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Point 2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Point 3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Point 4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402" name="Google Shape;402;p47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8"/>
          <p:cNvSpPr txBox="1">
            <a:spLocks noGrp="1"/>
          </p:cNvSpPr>
          <p:nvPr>
            <p:ph type="sldNum" idx="12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body" idx="1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Include any relevant assets like Python code snippets, SQL queries, charts, notebook outputs, or datasets that you may have created during this project.</a:t>
            </a:r>
            <a:endParaRPr dirty="0"/>
          </a:p>
        </p:txBody>
      </p:sp>
      <p:sp>
        <p:nvSpPr>
          <p:cNvPr id="410" name="Google Shape;410;p48"/>
          <p:cNvSpPr txBox="1"/>
          <p:nvPr/>
        </p:nvSpPr>
        <p:spPr>
          <a:xfrm>
            <a:off x="770011" y="538650"/>
            <a:ext cx="10515600" cy="54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49CB"/>
              </a:buClr>
              <a:buSzPct val="100000"/>
              <a:buFont typeface="Arial"/>
              <a:buNone/>
            </a:pPr>
            <a:r>
              <a:rPr lang="en-US" sz="4000">
                <a:solidFill>
                  <a:srgbClr val="0B49CB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4000">
              <a:solidFill>
                <a:srgbClr val="0B49CB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1651</Words>
  <Application>Microsoft Office PowerPoint</Application>
  <PresentationFormat>Widescreen</PresentationFormat>
  <Paragraphs>251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Calibri</vt:lpstr>
      <vt:lpstr>IBM Plex Mono SemiBold</vt:lpstr>
      <vt:lpstr>Arial</vt:lpstr>
      <vt:lpstr>IBM Plex Mono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 Luo</dc:creator>
  <cp:lastModifiedBy>Andres Feandeiro</cp:lastModifiedBy>
  <cp:revision>52</cp:revision>
  <dcterms:created xsi:type="dcterms:W3CDTF">2021-04-29T18:58:00Z</dcterms:created>
  <dcterms:modified xsi:type="dcterms:W3CDTF">2025-09-05T14:53:21Z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ICV">
    <vt:lpwstr>0E727723E82C4F14A8E830ACEBE87183</vt:lpwstr>
  </property>
  <property fmtid="{D5CDD505-2E9C-101B-9397-08002B2CF9AE}" pid="4" name="KSOProductBuildVer">
    <vt:lpwstr>1033-11.2.0.11156</vt:lpwstr>
  </property>
</Properties>
</file>